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표지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10698480" cy="38404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800" b="0">
                <a:solidFill>
                  <a:srgbClr val="161F2D"/>
                </a:solidFill>
                <a:latin typeface="Apple SD Gothic Neo"/>
              </a:defRPr>
            </a:pPr>
            <a:r>
              <a:t>AI 기반 Kubernetes 장애 분석 및 복구 자동화 서비스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800" b="0">
                <a:solidFill>
                  <a:srgbClr val="161F2D"/>
                </a:solidFill>
                <a:latin typeface="Apple SD Gothic Neo"/>
              </a:defRPr>
            </a:pPr>
            <a:r>
              <a:t>장애가 났을 때 흩어진 로그, 지표, 배포 변경 내역을 모아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161F2D"/>
                </a:solidFill>
                <a:latin typeface="Apple SD Gothic Neo"/>
              </a:defRPr>
            </a:pPr>
            <a:r>
              <a:t>원인을 설명하고 안전한 복구 방법을 제안하는 운영 보조 도구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800" b="0">
                <a:solidFill>
                  <a:srgbClr val="161F2D"/>
                </a:solidFill>
                <a:latin typeface="Apple SD Gothic Neo"/>
              </a:defRPr>
            </a:pPr>
            <a:r>
              <a:t>303호 4팀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161F2D"/>
                </a:solidFill>
                <a:latin typeface="Apple SD Gothic Neo"/>
              </a:defRPr>
            </a:pPr>
            <a:r>
              <a:t>임가인, 이민정, 전우현, 정찬빈, 최우녕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161F2D"/>
                </a:solidFill>
                <a:latin typeface="Apple SD Gothic Neo"/>
              </a:defRPr>
            </a:pPr>
            <a:r>
              <a:t>멘토: 김시훈 멘토님</a:t>
            </a:r>
          </a:p>
          <a:p>
            <a:pPr algn="l">
              <a:spcAft>
                <a:spcPts val="300"/>
              </a:spcAft>
              <a:defRPr sz="1800" b="0">
                <a:solidFill>
                  <a:srgbClr val="161F2D"/>
                </a:solidFill>
                <a:latin typeface="Apple SD Gothic Neo"/>
              </a:defRPr>
            </a:pPr>
            <a:r>
              <a:t>2026-06-29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166360"/>
            <a:ext cx="10698480" cy="685800"/>
          </a:xfrm>
          <a:prstGeom prst="roundRect">
            <a:avLst/>
          </a:prstGeom>
          <a:solidFill>
            <a:srgbClr val="F3F7FA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285232"/>
            <a:ext cx="10378440" cy="4114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0709B"/>
                </a:solidFill>
                <a:latin typeface="Apple SD Gothic Neo"/>
              </a:defRPr>
            </a:pPr>
            <a:r>
              <a:t>이미지 방향: • Kubernetes 클러스터를 상징하는 간단한 배경 이미지 또는 직접 만든 구조 아이콘.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0709B"/>
                </a:solidFill>
                <a:latin typeface="Apple SD Gothic Neo"/>
              </a:defRPr>
            </a:pPr>
            <a:r>
              <a:t>• 실제 대시보드가 없으므로 제품 화면처럼 보이는 가짜 UI 이미지는 사용하지 않는다.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0709B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0709B"/>
                </a:solidFill>
                <a:latin typeface="Apple SD Gothic Neo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한 장 요약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우리가 만들고 싶은 것은 “장애 대응 도우미”다.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상황  |  기존 방식  |  우리가 만들 방향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장애 발생  |  사람이 여러 도구를 직접 확인  |  시스템이 관련 증거를 자동으로 모음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원인 파악  |  경험 많은 사람이 로그와 지표를 해석  |  AI가 근거와 함께 원인 후보를 설명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복구 방법  |  급하게 수동 명령 실행  |  사람이 승인한 안전한 명령 또는 PR 제안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기록  |  누가 왜 조치했는지 흩어짐  |  사건 흐름을 감사 로그로 남김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핵심 흐름은 evidence → RCA → proposed action → approval → command/Safe PR → audit이다.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목표는 full auto remediation이 아니라 human-in-the-loop 운영 보조다.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이 전체 흐름은 아직 완전히 연결되지 않았다.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현재는 각 흐름을 담당할 서비스, 이벤트, WBS, 이슈를 쪼개고 일부 기반 구현을 검증 중이다.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“장애 발생 → 증거 수집 → AI 분석 → 승인 → 복구 제안 → 기록” 6단계 그림.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비전문가가 이해하기 쉽도록 도구명보다 사람의 행동 흐름 중심으로 그린다.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왜 필요한가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Kubernetes 장애는 한 화면에서 끝나지 않는다.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장애가 나면 보통 이런 것들을 따로 봐야 한다.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• 어떤 코드나 설정이 바뀌었는지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• 어떤 Pod가 죽었는지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• 로그에 어떤 에러가 있는지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• CPU, 메모리, 재시작 횟수가 어떻게 변했는지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• 누가 어떤 명령을 실행했는지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문제는 이 정보들이 서로 다른 곳에 흩어져 있다는 점이다.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source of truth가 Git, Kubernetes API, Prometheus, Loki, event store, command queue로 분산된다.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프로젝트는 이 분산 데이터를 correlation_id 기준 사건 흐름으로 묶는 것을 목표로 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실제 Prometheus/Loki 전체 연동은 아직 완료되지 않았다.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현재는 어떤 데이터를 Evidence로 줄일지 문서화하고, Prometheus demo/task를 준비 중이다.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왼쪽에는 GitHub, Kubernetes, Prometheus, Loki, 사람이 흩어져 있는 그림.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오른쪽에는 우리 시스템이 가운데에서 증거를 모으는 그림.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우리가 해결하려는 사용자 문제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사용자는 “왜 장애가 났고, 지금 무엇을 해야 하는지”를 알고 싶다.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사용자  |  어려움  |  우리가 주려는 도움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개발자  |  내 변경이 장애와 관련 있는지 모름  |  관련 commit, 로그, 지표를 함께 보여줌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운영자  |  여러 도구를 보며 원인을 추정해야 함  |  원인 후보와 근거를 정리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팀 리더  |  누가 어떤 판단으로 조치했는지 보기 어려움  |  사건 흐름과 조치 이력을 남김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persona는 developer, SRE/operator, team lead로 나눌 수 있다.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dashboard는 아직 없지만 read model과 audit timeline 설계가 이 요구를 받는다.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UI dashboard는 아직 없다.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현재는 Gateway API, dashboard read model, audit event로 연결할 계획을 문서화한 상태다.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세 사용자 카드: 개발자, 운영자, 팀 리더.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각 카드에 “궁금한 질문” 말풍선 추가.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우리가 만들 최종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최종적으로는 아래 흐름을 목표로 한다.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장애 징후 발생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→ 시스템이 로그/지표/이벤트/배포 변경 수집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→ AI가 원인 후보와 근거 설명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→ 사람이 복구 방법 승인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→ 안전한 명령 실행 또는 GitHub PR 생성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→ 결과와 판단 과정을 기록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event-driven workflow: cluster.evidence.received, evidence.built, rca.completed, safe_pr.requested, command.*.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command execution은 sandbox namespace와 policy guard를 거친다.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Safe PR은 repo-gateway-worker 같은 outbound gateway로 분리한다.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이 흐름은 목표 구조다.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현재는 전체 사이클이 연결되지 않았다.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Docker/kind 환경에서 management/target 분리, event runtime, DLQ, target telemetry 일부를 준비 중이다.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목표 흐름도.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각 단계 아래에 “현재: 준비 중 / 미완성 / 일부 구현” 배지를 표시하면 좋다.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지금 실제로 된 것과 안 된 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현재는 완성 화면을 만든 단계가 아니라, 시스템의 뼈대를 만드는 단계다.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구분  |  상태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Docker/kind 환경 분리  |  관리 클러스터와 타깃 클러스터를 나누는 방향으로 작업 중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이벤트/큐 시스템  |  설계와 일부 구현/테스트 진행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로그인/Gateway  |  email/password + Redis session 브랜치 진행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Target Agent/Telemetry  |  Prometheus/Node Collector 학습 task와 일부 브랜치 진행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전체 장애 대응 사이클  |  아직 미연결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대시보드 UI  |  아직 없음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실제 AI RCA 고도화  |  아직 계획/기초 설계 단계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현재 보고서에서 `완료`라는 표현은 조심해서 써야 한다.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local/branch 테스트 증거와 merge된 main/dev 상태를 구분해야 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전체 end-to-end demo는 아직 성공 상태로 단정하면 안 된다.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현재는 2026-07-01 1차 보고를 위해 event runtime, DLQ, Node Collector를 우선 연결해야 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진행 상태 보드.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완료/진행/미완성/계획을 색으로 구분한 표.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현재 개발 환경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우리는 실제 운영 환경을 바로 쓰지 않고, 로컬에서 작은 Kubernetes 환경을 나눠 테스트한다.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관리 환경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  - API Gateway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  - 이벤트 큐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  - 작업자 서비스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  - 데이터베이스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타깃 환경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  - 장애가 난다고 가정하는 Kubernetes 클러스터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  - Target Agent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  - Node Collector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19" b="0">
                <a:solidFill>
                  <a:srgbClr val="161F2D"/>
                </a:solidFill>
                <a:latin typeface="Apple SD Gothic Neo"/>
              </a:defRPr>
            </a:pPr>
            <a:r>
              <a:t>• management kind cluster와 target kind cluster 분리.</a:t>
            </a:r>
          </a:p>
          <a:p>
            <a:pPr algn="l">
              <a:spcAft>
                <a:spcPts val="300"/>
              </a:spcAft>
              <a:defRPr sz="819" b="0">
                <a:solidFill>
                  <a:srgbClr val="161F2D"/>
                </a:solidFill>
                <a:latin typeface="Apple SD Gothic Neo"/>
              </a:defRPr>
            </a:pPr>
            <a:r>
              <a:t>• management에는 NATS, PostgreSQL, Redis, worker들이 있고 target에는 target-cluster-agent, node-collector, fake telemetry가 배치된다.</a:t>
            </a:r>
          </a:p>
          <a:p>
            <a:pPr algn="l">
              <a:spcAft>
                <a:spcPts val="300"/>
              </a:spcAft>
              <a:defRPr sz="819" b="0">
                <a:solidFill>
                  <a:srgbClr val="161F2D"/>
                </a:solidFill>
                <a:latin typeface="Apple SD Gothic Neo"/>
              </a:defRPr>
            </a:pPr>
            <a:r>
              <a:t>• target agent는 management NATS에 직접 붙지 않고 Gateway HTTP로 outbound 통신해야 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Docker/kind 기반 분리 환경을 기준으로 설계/검증 중이다.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실제 cloud/EKS 배포는 2주차 이후 후보로 둔다.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두 개의 박스: Management Cluster / Target Cluster.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두 박스 사이에 한 방향 화살표: Target Agent → Gateway.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Docker/kind 로고나 터미널 `kind get clusters` 캡처가 있으면 좋다.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시스템을 큰 덩어리로 보면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시스템은 크게 5개 덩어리로 나눌 수 있다.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덩어리  |  쉬운 설명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Gateway/Auth  |  외부 요청이 들어오는 정문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Event/Queue  |  서비스끼리 일을 넘겨주는 작업 줄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GitOps/Command  |  배포 변경을 보고 안전한 명령으로 바꾸는 곳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Target/Telemetry  |  Kubernetes 상태와 지표를 가져오는 곳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RCA/Safe PR/Audit  |  원인을 정리하고 PR/기록으로 남기는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각 덩어리는 독립 서비스 또는 worker group이다.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서비스 간 직접 함수 호출 대신 NATS JetStream event, Gateway HTTP, DB queue를 사용한다.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구조와 역할은 문서화되어 있다.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각 서비스가 완전히 통합되어 실행되는 상태는 아직 아니다.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5개 큰 블록을 원형 또는 좌우 흐름으로 배치.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각 블록에 담당자 이름을 작게 표시.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Event/Queue를 쉽게 설명하면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이벤트 큐는 “작업 전달함”이다.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예를 들어: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1. Gateway가 “명령 요청이 들어왔다”고 전달함에 넣는다.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2. Command Worker가 그 일을 꺼내 정책을 확인한다.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3. 문제가 없으면 “에이전트가 가져갈 명령이 준비됐다”고 다시 전달함에 넣는다.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4. Target Agent가 가져가 실행 결과를 다시 알려준다.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NATS JetStream durable pull consumer.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at-least-once delivery이므로 handler와 DB write는 idempotent해야 한다.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`event_processing(event_id, consumer)` ledger, bounded retry, DLQ/replay가 필요하다.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Event runtime, envelope, subject/body 계약, DLQ/replay 구조를 설계/구현 중이다.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local test는 있으나 전체 환경 smoke는 다시 확인해야 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우체통/작업함 비유 그림.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“요청 이벤트 → 작업자 → 결과 이벤트” 단순 흐름도.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전문가용 appendix에는 NATS/DLQ 구조를 작게 추가.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왜 AI가 바로 고치면 안 되는가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AI가 바로 운영 서버를 고치면 위험하다.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그래서 우리는 AI를 “자동 실행자”가 아니라 “근거를 정리하고 제안하는 보조자”로 둔다.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위험  |  우리 방식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AI가 잘못 판단할 수 있음  |  사람이 승인해야 실행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운영 서버를 망가뜨릴 수 있음  |  sandbox 영역부터 제한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왜 고쳤는지 모를 수 있음  |  Evidence와 audit 기록 남김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코드 변경이 Git 기록과 어긋날 수 있음  |  Safe PR로 제안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human-in-the-loop, approval guard, sandbox namespace, Safe PR.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command policy와 credential boundary가 핵심이다.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AI RCA 고도화는 아직 완성되지 않았다.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현재는 rule 기반 RCA baseline과 Evidence 구조부터 준비하는 단계다.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AI가 직접 서버를 고치는 그림에 금지 표시.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AI가 보고서를 만들고 사람이 승인하는 그림.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Evidence를 쉽게 설명하면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Evidence는 “AI가 원인을 판단할 때 보는 증거 묶음”이다.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raw data는 너무 많다.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예: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• 로그 1만 줄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• 지표 수천 개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• Kubernetes 이벤트 수십 개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Evidence는 이것을 줄여서 이렇게 만든다.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• 어떤 Pod가 죽었는지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• 언제부터 재시작이 늘었는지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• 마지막 에러 메시지가 무엇인지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• 관련된 배포 변경이 있었는지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Evidence는 event payload 계약으로 확정되기 전 내부 중간 모델로 다룬다.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Kubernetes Pod/Event, Prometheus metric, Loki log, OTel trace reference를 source별로 normalize해야 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Evidence 모델과 학습 문서를 작성했다.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실제 Prometheus/Loki/OTel 연동은 아직 단계적으로 붙일 예정이다.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왼쪽: 큰 raw data 더미.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오른쪽: 작은 Evidence 카드 4개.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각 카드에 Pod, Metric, Log, Git Change 아이콘.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Prometheus/Loki/OTel을 쉽게 설명하면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장애를 이해하려면 여러 종류의 데이터를 봐야 한다.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도구  |  쉬운 설명  |  보는 것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Prometheus  |  숫자 지표를 모으는 도구  |  CPU, 메모리, 재시작 횟수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Loki  |  로그를 모으는 도구  |  에러 메시지, 실행 로그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OpenTelemetry  |  요청 흐름을 추적하는 표준  |  어떤 요청이 어디서 느려졌는지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Prometheus는 pull/scrape 모델.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Loki와 OTel은 ingest/push 모델도 강하다.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Node Collector `/metrics`는 Prometheus scrape target이 될 수 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아직 전체 관측성 스택이 완성된 것은 아니다.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우선 Node Collector `/metrics`와 Prometheus scrape/query 폐쇄 루프를 만드는 것이 첫 목표다.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Prometheus는 “데이터를 가지러 가는 화살표”.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Loki/OTel은 “데이터를 보내는 화살표”.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pull/push 방향 차이를 그림으로 표현.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Gateway/Auth를 쉽게 설명하면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Gateway는 우리 서비스의 정문이다.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정문에서 확인할 것: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• 누구인가?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• 어떤 프로젝트에 접근할 수 있는가?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• 어떤 외부 도구를 연결했는가?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• 어떤 명령을 실행해도 되는가?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OAuth-only가 아니라 internal identity + server-side Redis session.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organization/project RBAC와 integration target/credential binding 분리.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Token Broker는 worker가 secret을 직접 읽지 않게 하는 경계다.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email/password + Redis session 브랜치가 있다.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하지만 브랜치가 dev보다 behind이고 `app.py` 기준 구조와 정렬이 필요하다.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org/project RBAC와 Token Broker는 아직 단계적으로 구현해야 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건물 정문/출입증 비유 그림.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“User / Project / Integration / Credential” 4단계 계층도.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GitOps/Command를 쉽게 설명하면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GitOps는 “운영 상태를 Git에 기록된 원하는 상태와 맞추는 방식”이다.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우리 프로젝트에서는: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1. Git 저장소를 주기적으로 확인한다.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2. 변경된 설정을 읽는다.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3. 실제 클러스터 상태와 비교한다.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4. 차이가 있으면 안전한 명령 또는 PR 후보를 만든다.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기본 방향은 webhook이 아니라 polling-first.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git pull worker, manifest render worker, diff worker, diff analyze worker, repo gateway worker로 분리한다.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command.requested와 safe_pr.requested 분기 기준이 필요하다.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GitOps polling API 설계 문서 PR은 merge되었다.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실제 GitOps/Command 구현 브랜치는 아직 초기 상태다.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Git repository와 Kubernetes cluster를 비교하는 그림.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“Git 상태”와 “실제 상태” 사이의 diff 표시.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RCA/Safe PR을 쉽게 설명하면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RCA는 “왜 문제가 생겼는지 정리한 원인 분석”이다.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Safe PR은 “바로 고치지 않고, 안전하게 검토할 수 있는 수정 제안”이다.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Evidence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→ RCA 요약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→ 수정 제안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→ GitHub PR 초안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  → 사람이 검토 후 merge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RCA Worker는 GitHub PR을 직접 만들지 않고 `safe_pr.requested`를 발행한다.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repo-gateway-worker가 외부 provider 호출을 담당한다.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Safe PR body에는 원인, 근거, 변경 내용, 검증 방법, rollback이 들어가야 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RCA/Safe PR 구조는 문서와 일부 source 기준으로 정리되어 있다.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담당 원격 브랜치에는 아직 실제 구현 diff 반영이 부족하다.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사고 보고서에서 PR로 이어지는 흐름도.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GitHub PR 화면 예시는 실제 PR이 없으면 mock이 아니라 “예상 PR 구성” 박스로 표현.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대시보드는 아직 없다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현재 대시보드 화면은 아직 없다.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대신 먼저 해야 하는 일: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1. 어떤 사건 정보를 모을지 정한다.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2. 그 정보를 저장할 read model을 만든다.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3. Gateway API로 조회할 수 있게 한다.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4. 이후 UI가 이 API를 보여준다.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dashboard-projection-service는 모든 주요 event를 read model로 투영한다.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audit-timeline-service는 command/evidence/RCA/PR 흐름을 correlation_id로 보존한다.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UI는 DB/JetStream에 직접 붙지 않는다.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dashboard UI는 미구현이다.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dashboard read model과 query/stream 계약을 설계해야 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실제 없는 UI 스크린샷 대신 “예상 화면 와이어프레임”을 사용.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예: 사건 카드, 원인 요약, 증거 목록, 제안 PR, command 상태.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이번 주 실제 성과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이번 주에는 완성 화면보다 “팀이 같은 방향으로 구현할 수 있는 기반”을 만들었다.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영역  |  성과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프로젝트 정의  |  무엇을 만들고, 무엇을 하지 않을지 정리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멘토링 반영  |  MVP 범위, 저장소, 인증, AI 역할 재정리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WBS  |  56개 작업과 수요일 데모 마일스톤 정리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팀 역할  |  5개 담당 영역과 각자 이슈 분리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Event System  |  이벤트/큐/DLQ/replay 구조 정리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Target/Telemetry  |  Evidence 학습 문서와 Prometheus task 정리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PR #538~#541이 merge되어 문서 반영은 일부 main/dev에 들어갔다.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구현 이슈 #501~#509, #519~#537이 열려 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구현 완료보다 설계/문서/WBS/이슈 분해 성과가 큰 주차다.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GitHub PR merged 목록 캡처.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GitHub Project/WBS 또는 Issues 목록 캡처.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지금 가장 큰 리스크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현재 가장 큰 위험은 “설계는 있는데 아직 한 번에 동작하는 흐름이 없다”는 점이다.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리스크  |  쉽게 말하면  |  대응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전체 사이클 미연결  |  끝까지 돌아가는 demo가 아직 없음  |  작은 fake 흐름부터 연결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대시보드 없음  |  보여줄 화면이 없음  |  API/curl demo를 먼저 준비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외부 도구 연동 어려움  |  GitHub/Prometheus가 바로 안 붙을 수 있음  |  fake adapter와 dry-run 유지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브랜치 충돌  |  각자 만든 코드가 합쳐지며 깨질 수 있음  |  dev 기준 재정렬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팀원 이해도 차이  |  기술 용어가 어려움  |  문서에 쉬운 설명과 첫 task 제공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Gateway branch behind, Target path mismatch, RCA remote diff 부족, smoke 미검증이 구체 리스크다.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next action은 구현보다 integration hygiene도 중요하다.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이 리스크들은 아직 해소되지 않았다.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다음 주 초 작업의 우선순위가 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위험 신호 표.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“현재 위치 → 7/1 데모 목표” 거리감을 보여주는 로드맵.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다음 주 목표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다음 주 목표는 “작아도 실제로 돌아가는 한 사이클”이다.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우선 보여줄 것: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1. Docker/kind 환경 실행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2. 이벤트가 발행되고 worker가 처리하는 것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3. 실패 이벤트가 DLQ로 가는 것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4. DLQ를 다시 replay하는 것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5. Node Collector가 `/metrics`를 보여주는 것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6. 가능하면 command 또는 evidence가 Gateway를 통해 흐르는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`make up &amp;&amp; make smoke &amp;&amp; make status` 재검증.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DLQ 생성/조회/replay 경로 고정.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Gateway/Auth branch rebase, Target path correction, RCA remote diff 반영.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2026-07-01 1차 보고 전까지 실제 실행 로그가 필요하다.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터미널 실행 캡처: `make up`, `make status`, worker logs.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DLQ API curl 결과 캡처.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Node Collector `/metrics` curl 결과 캡처.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멘토링 피드백 반영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멘토님 피드백은 “크게 만들기보다, 돌아가는 한 사이클을 먼저 만들자”였다.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피드백  |  반영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MVP는 작게, 실제로 돌아가게  |  7/1 데모를 Event/DLQ/Node Collector 중심으로 조정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인증은 너무 커질 수 있음  |  내부 로그인 + session부터 시작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데이터는 목적이 먼저  |  Evidence와 RCA 중심으로 정리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AI는 직접 고치는 존재가 아님  |  제안하고 사람이 승인하는 구조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secret은 절대 노출 금지  |  event/log/response에는 ref만 전달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멘토링 결정은 WIKI 회의록, Gateway/Auth guide, Target/Telemetry docs, WBS에 반영되었다.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반영은 주로 문서와 이슈 설계 단계다.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코드 반영은 각 담당 브랜치에서 이어져야 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멘토링 회의록 일부 캡처.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“피드백 → 문서/이슈 반영” 연결 표.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자체 평가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구분  |  평가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잘한 점  |  큰 프로젝트를 역할과 작은 작업으로 나누었다.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잘한 점  |  멘토링 피드백을 문서와 이슈에 반영했다.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아쉬운 점  |  아직 전체 사이클과 대시보드는 연결되지 않았다.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아쉬운 점  |  기술 설명이 어려워 비전문가에게는 더 쉬운 자료가 필요하다.</a:t>
            </a:r>
          </a:p>
          <a:p>
            <a:pPr algn="l">
              <a:spcAft>
                <a:spcPts val="300"/>
              </a:spcAft>
              <a:defRPr sz="1500" b="0">
                <a:solidFill>
                  <a:srgbClr val="161F2D"/>
                </a:solidFill>
                <a:latin typeface="Apple SD Gothic Neo"/>
              </a:defRPr>
            </a:pPr>
            <a:r>
              <a:t>다음 보완  |  실행 가능한 demo와 쉬운 그림 중심 보고서로 바꾼다.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설계 문서와 실제 branch 상태 사이의 gap을 줄여야 한다.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완료 정의는 code + test + docs + project status가 함께 맞아야 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현재는 “기반 정리 주차”로 평가한다.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다음 보고서에서는 실행 증거를 더 많이 넣어야 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완료/진행/미완성 비율 막대.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다음 주 목표 체크리스트.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207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92240"/>
            <a:ext cx="45720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68096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06C7A"/>
                </a:solidFill>
                <a:latin typeface="Apple SD Gothic Neo"/>
              </a:defRPr>
            </a:pPr>
            <a:r>
              <a:t>303호 4팀 · 비전문가/전문가 공용 보고서 v3 · 2026-06-29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064240" cy="50292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1F2F46"/>
                </a:solidFill>
                <a:latin typeface="Apple SD Gothic Neo"/>
              </a:defRPr>
            </a:pPr>
            <a:r>
              <a:t>Appendix - 실제 근거 자료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68122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92608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0709B"/>
                </a:solidFill>
                <a:latin typeface="Apple SD Gothic Neo"/>
              </a:defRPr>
            </a:pPr>
            <a:r>
              <a:t>비전문가용 핵심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644652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이 보고서는 아래 자료를 근거로 작성했다.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종류  |  자료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멘토링 이메일  |  `Gmail - Jungle Mentor Meet_.pdf`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멘토링 회의록  |  WIKI `2026-06-26-mentoring.md`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MVP 계획  |  WIKI `mvp-plan.md`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WBS  |  WIKI `wbs.md`, source WBS xlsx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아키텍처  |  source `docs/architecture.md`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이벤트 시스템  |  source `docs/events.md`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팀 작업 분배  |  source `docs/team/work-allocation.md`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161F2D"/>
                </a:solidFill>
                <a:latin typeface="Apple SD Gothic Neo"/>
              </a:defRPr>
            </a:pPr>
            <a:r>
              <a:t>GitHub 상태  |  PR #538~#541, Issues #501~#509, #519~#537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1005840"/>
            <a:ext cx="4114800" cy="1325880"/>
          </a:xfrm>
          <a:prstGeom prst="roundRect">
            <a:avLst/>
          </a:prstGeom>
          <a:solidFill>
            <a:srgbClr val="E8F2F8"/>
          </a:solidFill>
          <a:ln>
            <a:solidFill>
              <a:srgbClr val="207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124712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0709B"/>
                </a:solidFill>
                <a:latin typeface="Apple SD Gothic Neo"/>
              </a:defRPr>
            </a:pPr>
            <a:r>
              <a:t>전문가 확인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389888"/>
            <a:ext cx="3703320" cy="74980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자료 출처와 실제 파일 경로는 MD 원고에 남긴다.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2487168"/>
            <a:ext cx="411480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BF7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596896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BF702A"/>
                </a:solidFill>
                <a:latin typeface="Apple SD Gothic Neo"/>
              </a:defRPr>
            </a:pPr>
            <a:r>
              <a:t>현재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52928"/>
            <a:ext cx="3703320" cy="56692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이 appendix는 제출용 PPT에서는 줄일 수 있지만, 멘토링/KDT 히스토리에는 남기는 것이 좋다.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3794760"/>
            <a:ext cx="4114800" cy="1280160"/>
          </a:xfrm>
          <a:prstGeom prst="roundRect">
            <a:avLst/>
          </a:prstGeom>
          <a:solidFill>
            <a:srgbClr val="EEF7F2"/>
          </a:solidFill>
          <a:ln>
            <a:solidFill>
              <a:srgbClr val="27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904487"/>
            <a:ext cx="3474720" cy="18288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278B5E"/>
                </a:solidFill>
                <a:latin typeface="Apple SD Gothic Neo"/>
              </a:defRPr>
            </a:pPr>
            <a:r>
              <a:t>필요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703320" cy="658368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GitHub PR/Issue 화면 캡처.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61F2D"/>
                </a:solidFill>
                <a:latin typeface="Apple SD Gothic Neo"/>
              </a:defRPr>
            </a:pPr>
            <a:r>
              <a:t>• WIKI 회의록 캡처.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57800"/>
            <a:ext cx="11201400" cy="914400"/>
          </a:xfrm>
          <a:prstGeom prst="roundRect">
            <a:avLst/>
          </a:prstGeom>
          <a:solidFill>
            <a:srgbClr val="F3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606C7A"/>
                </a:solidFill>
                <a:latin typeface="Apple SD Gothic Neo"/>
              </a:defRPr>
            </a:pPr>
            <a:r>
              <a:t>이미지 자리: 실제 대시보드가 없으므로 개념도/흐름도/터미널 로그/GitHub 캡처를 사용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