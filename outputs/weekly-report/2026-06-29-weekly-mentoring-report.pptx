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56692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20709B"/>
                </a:solidFill>
                <a:latin typeface="Apple SD Gothic Neo"/>
              </a:rPr>
              <a:t>크래프톤 정글 12기 · 303호 4팀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9875520" cy="12344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1F2F46"/>
                </a:solidFill>
                <a:latin typeface="Apple SD Gothic Neo"/>
              </a:rPr>
              <a:t>AI 기반 Kubernetes 장애 분석 및
복구 자동화 서비스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852928"/>
            <a:ext cx="393192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161F2D"/>
                </a:solidFill>
                <a:latin typeface="Apple SD Gothic Neo"/>
              </a:rPr>
              <a:t>주간 공유 / 멘토링 자료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3657600"/>
          <a:ext cx="97840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595360"/>
              </a:tblGrid>
              <a:tr h="2834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팀원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임가인, 이민정, 전우현, 정찬빈, 최우녕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멘토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김시훈 멘토님, Krafton Data Engineering Dept.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작성일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2026-06-29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용도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주간 공유 · 멘토링 공유자료 · KDT 제출 히스토리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018520" y="6355080"/>
            <a:ext cx="54864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06C7A"/>
                </a:solidFill>
                <a:latin typeface="Apple SD Gothic Ne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709B"/>
                </a:solidFill>
                <a:latin typeface="Apple SD Gothic Neo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07899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F2F46"/>
                </a:solidFill>
                <a:latin typeface="Apple SD Gothic Neo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105156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pple SD Gothic Neo"/>
              </a:rPr>
              <a:t>서식의 흐름을 유지하되, 멘토링 피드백 반영과 근거 추적을 별도 장으로 분리했습니다.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0467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06C7A"/>
                </a:solidFill>
                <a:latin typeface="Apple SD Gothic Neo"/>
              </a:rPr>
              <a:t>303호 4팀 · 주간 공유 / 멘토링 자료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01384"/>
            <a:ext cx="50292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06C7A"/>
                </a:solidFill>
                <a:latin typeface="Apple SD Gothic Neo"/>
              </a:rPr>
              <a:t>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417320"/>
          <a:ext cx="106527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699516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번호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장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핵심 내용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프로젝트 개요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문제, 해결 방향, MVP 사용자 흐름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02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팀 구성 및 역할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5인 역할과 멘토 지원 내용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수행 절차 및 방법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주차별 목표와 데모 기준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04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수행 경과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Event, Gateway/Auth, GitOps/Command, Target/Telemetry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멘토링 피드백 및 반영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이메일, Teams 멘토링, WIKI 회의록 반영 내역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06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자체 평가 의견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잘한 점, 아쉬운 점, 다음 보완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Appendix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근거 자료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멘토링 일지, 문서/브랜치/이슈 목록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709B"/>
                </a:solidFill>
                <a:latin typeface="Apple SD Gothic Neo"/>
              </a:rPr>
              <a:t>01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07899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F2F46"/>
                </a:solidFill>
                <a:latin typeface="Apple SD Gothic Neo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105156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pple SD Gothic Neo"/>
              </a:rPr>
              <a:t>Kubernetes 장애 근거를 모아 RCA와 안전한 조치로 연결하는 운영 보조 도구입니다.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0467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06C7A"/>
                </a:solidFill>
                <a:latin typeface="Apple SD Gothic Neo"/>
              </a:rPr>
              <a:t>303호 4팀 · 주간 공유 / 멘토링 자료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01384"/>
            <a:ext cx="50292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06C7A"/>
                </a:solidFill>
                <a:latin typeface="Apple SD Gothic Neo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8813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9555480"/>
              </a:tblGrid>
              <a:tr h="7086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문제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Git 변경, Kubernetes Event, Pod 상태, Log, Metric이 흩어져 원인 파악과 복구안 작성이 늦어짐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해결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클러스터 증거를 자동 수집하고 AI RCA/복구 후보를 만든 뒤 승인된 조치만 실행 또는 PR로 연결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대상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Kubernetes 기반 서비스를 운영하는 개발자, SRE, 플랫폼 엔지니어, 팀 리더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핵심 가치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장애 분석 시간 단축, 복구 근거 보존, 운영 명령 승인/감사 기록 유지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MVP 흐름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장애 징후 -&gt; Evidence -&gt; RCA -&gt; 복구안/PR -&gt; 사람 승인 -&gt; sandbox command 또는 Safe PR -&gt; dashboard/audit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5715000"/>
            <a:ext cx="1046988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78B5E"/>
                </a:solidFill>
                <a:latin typeface="Apple SD Gothic Neo"/>
              </a:rPr>
              <a:t>핵심 메시지: 단순 모니터링이 아니라 흩어진 운영 데이터를 하나의 사건 흐름으로 묶고, AI가 원인과 다음 행동을 설명하게 만드는 도구입니다.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709B"/>
                </a:solidFill>
                <a:latin typeface="Apple SD Gothic Neo"/>
              </a:rPr>
              <a:t>01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07899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F2F46"/>
                </a:solidFill>
                <a:latin typeface="Apple SD Gothic Neo"/>
              </a:rPr>
              <a:t>선정 배경과 차별점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105156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pple SD Gothic Neo"/>
              </a:rPr>
              <a:t>AI 사용 자체보다 장애 근거, 설명 가능성, 안전한 실행 경계를 함께 제공하는 것이 차별점입니다.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0467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06C7A"/>
                </a:solidFill>
                <a:latin typeface="Apple SD Gothic Neo"/>
              </a:rPr>
              <a:t>303호 4팀 · 주간 공유 / 멘토링 자료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01384"/>
            <a:ext cx="50292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06C7A"/>
                </a:solidFill>
                <a:latin typeface="Apple SD Gothic Neo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98448"/>
          <a:ext cx="111556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4663440"/>
                <a:gridCol w="5349240"/>
              </a:tblGrid>
              <a:tr h="586740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기존 운영 방식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우리 프로젝트 방향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장애 확인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Dashboard, kubectl, log, GitHub를 사람이 오가며 확인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Git 변경, cluster evidence, command, RCA를 correlation_id로 연결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복구 판단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운영자가 로그와 지표를 직접 해석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AI가 근거와 함께 RCA/복구 후보를 설명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조치 실행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긴급 명령이 GitOps desired state와 어긋날 수 있음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승인된 sandbox command 또는 GitHub Safe PR로 연결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감사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판단과 조치 이력이 흩어짐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event, command, audit timeline으로 보존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안전성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자동 복구가 과하면 위험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AI는 제안하고 production 쓰기는 사람 승인/정책 guard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074920"/>
            <a:ext cx="10515600" cy="8229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400">
                <a:solidFill>
                  <a:srgbClr val="161F2D"/>
                </a:solidFill>
                <a:latin typeface="Apple SD Gothic Neo"/>
              </a:defRPr>
            </a:pPr>
            <a:r>
              <a:t>• Kubernetes 운영 데이터와 Git 변경 이력을 같은 사건 흐름으로 연결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400">
                <a:solidFill>
                  <a:srgbClr val="161F2D"/>
                </a:solidFill>
                <a:latin typeface="Apple SD Gothic Neo"/>
              </a:defRPr>
            </a:pPr>
            <a:r>
              <a:t>• AI 결과를 Evidence, RCA, Safe PR, Command 상태와 연결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400">
                <a:solidFill>
                  <a:srgbClr val="161F2D"/>
                </a:solidFill>
                <a:latin typeface="Apple SD Gothic Neo"/>
              </a:defRPr>
            </a:pPr>
            <a:r>
              <a:t>• retry, DLQ, replay, audit까지 포함해 운영 실패도 관찰 가능하게 설계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709B"/>
                </a:solidFill>
                <a:latin typeface="Apple SD Gothic Neo"/>
              </a:rPr>
              <a:t>02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07899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F2F46"/>
                </a:solidFill>
                <a:latin typeface="Apple SD Gothic Neo"/>
              </a:rPr>
              <a:t>프로젝트 팀 구성 및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105156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pple SD Gothic Neo"/>
              </a:rPr>
              <a:t>역할은 기술 레이어가 아니라 실제 서비스 흐름의 책임 단위로 나누었습니다.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0467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06C7A"/>
                </a:solidFill>
                <a:latin typeface="Apple SD Gothic Neo"/>
              </a:rPr>
              <a:t>303호 4팀 · 주간 공유 / 멘토링 자료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01384"/>
            <a:ext cx="50292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06C7A"/>
                </a:solidFill>
                <a:latin typeface="Apple SD Gothic Neo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47472" y="1207008"/>
          <a:ext cx="1150315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3886200"/>
                <a:gridCol w="5056632"/>
              </a:tblGrid>
              <a:tr h="69886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구성원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주 담당 업무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이번 주 상태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임가인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RCA / Safe PR / Audit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evidence 기반 RCA, Safe PR 요청, audit timeline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RCA/Audit/Projection 이슈와 브랜치 준비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이민정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Target / Telemetry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target agent, node collector, Prometheus/Loki/OTel evidence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Prometheus/Node Collector 이슈 11개 세분화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전우현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GitOps / Command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Git polling, manifest render, diff, command 정책 처리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GitOps polling-first 설계와 command 이슈 준비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정찬빈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Gateway / Auth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API Gateway, session, org/project 권한, credential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email/password + Redis session 브랜치 진행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최우녕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Platform / Integration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 runtime, NATS JetStream, contracts, DLQ, WBS/docs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event-system, docs/WIKI/issue/PR 정리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김시훈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멘토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MVP 범위, 실무 관점, 학습 방향, trade-off 피드백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2026-06-26 멘토링, 온보딩 자료 공유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709B"/>
                </a:solidFill>
                <a:latin typeface="Apple SD Gothic Neo"/>
              </a:rPr>
              <a:t>03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07899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F2F46"/>
                </a:solidFill>
                <a:latin typeface="Apple SD Gothic Neo"/>
              </a:rPr>
              <a:t>프로젝트 수행 절차 및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105156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pple SD Gothic Neo"/>
              </a:rPr>
              <a:t>첫 주 목표는 완성이 아니라 전체 흐름이 끊기지 않게 만드는 것입니다.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0467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06C7A"/>
                </a:solidFill>
                <a:latin typeface="Apple SD Gothic Neo"/>
              </a:rPr>
              <a:t>303호 4팀 · 주간 공유 / 멘토링 자료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01384"/>
            <a:ext cx="50292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06C7A"/>
                </a:solidFill>
                <a:latin typeface="Apple SD Gothic Neo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34440"/>
          <a:ext cx="112928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325880"/>
                <a:gridCol w="4800600"/>
                <a:gridCol w="3886200"/>
              </a:tblGrid>
              <a:tr h="56388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기간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활동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산출물/검증 기준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사전 기획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06/24~06/26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문제 정의, MVP 흐름, 서비스 분리, WBS 작성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WIKI MVP 계획, 제품 정의, WBS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1주차 E2E 기반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06/27~07/01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 runtime, DLQ, Gateway/Auth skeleton, target telemetry 학습/데모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make up, make smoke, DLQ/replay, node metrics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2주차 실제 연동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07/04~07/10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GitHub 연동, Safe PR, Prometheus/Loki adapter 일부, 권한 guard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GitHub OAuth/PR, Evidence pack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3주차 MVP 완성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07/11~07/17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장애 주입부터 RCA, 복구안 승인, command/PR 연결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end-to-end demo, dashboard/audit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4~5주차 고도화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07/18~최종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multi-cluster, AI 품질, backpressure, 운영 안정화 중 선택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발표 안정화, 리스크 제거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4892040"/>
            <a:ext cx="1069848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320">
                <a:solidFill>
                  <a:srgbClr val="161F2D"/>
                </a:solidFill>
                <a:latin typeface="Apple SD Gothic Neo"/>
              </a:defRPr>
            </a:pPr>
            <a:r>
              <a:t>• 처음부터 분리된 서비스로 구현하고, 서비스 간 직접 호출 대신 NATS JetStream event로 연결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20">
                <a:solidFill>
                  <a:srgbClr val="161F2D"/>
                </a:solidFill>
                <a:latin typeface="Apple SD Gothic Neo"/>
              </a:defRPr>
            </a:pPr>
            <a:r>
              <a:t>• Target Agent는 Gateway로 outbound HTTP 요청만 보냄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20">
                <a:solidFill>
                  <a:srgbClr val="161F2D"/>
                </a:solidFill>
                <a:latin typeface="Apple SD Gothic Neo"/>
              </a:defRPr>
            </a:pPr>
            <a:r>
              <a:t>• production write 금지, sandbox namespace와 Safe PR 중심으로 제한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20">
                <a:solidFill>
                  <a:srgbClr val="161F2D"/>
                </a:solidFill>
                <a:latin typeface="Apple SD Gothic Neo"/>
              </a:defRPr>
            </a:pPr>
            <a:r>
              <a:t>• 매주 수요일은 실행 가능한 demo 기준으로 진행 상황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709B"/>
                </a:solidFill>
                <a:latin typeface="Apple SD Gothic Neo"/>
              </a:rPr>
              <a:t>04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07899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F2F46"/>
                </a:solidFill>
                <a:latin typeface="Apple SD Gothic Neo"/>
              </a:rPr>
              <a:t>현재 아키텍처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105156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pple SD Gothic Neo"/>
              </a:rPr>
              <a:t>Event bus가 서비스 간 계약이 되고, dashboard/audit은 같은 사건 흐름을 관찰합니다.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0467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06C7A"/>
                </a:solidFill>
                <a:latin typeface="Apple SD Gothic Neo"/>
              </a:rPr>
              <a:t>303호 4팀 · 주간 공유 / 멘토링 자료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01384"/>
            <a:ext cx="50292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06C7A"/>
                </a:solidFill>
                <a:latin typeface="Apple SD Gothic Neo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2084831" cy="438912"/>
          </a:xfrm>
          <a:prstGeom prst="roundRect">
            <a:avLst/>
          </a:prstGeom>
          <a:solidFill>
            <a:srgbClr val="F3F7FA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307592"/>
            <a:ext cx="1938528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161F2D"/>
                </a:solidFill>
                <a:latin typeface="Apple SD Gothic Neo"/>
              </a:rPr>
              <a:t>GitHub / UI /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2184" y="1673352"/>
            <a:ext cx="3200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20709B"/>
                </a:solidFill>
                <a:latin typeface="Apple SD Gothic Neo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64792"/>
            <a:ext cx="2084831" cy="438912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837944"/>
            <a:ext cx="1938528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50" b="1">
                <a:solidFill>
                  <a:srgbClr val="161F2D"/>
                </a:solidFill>
                <a:latin typeface="Apple SD Gothic Neo"/>
              </a:rPr>
              <a:t>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2203704"/>
            <a:ext cx="3200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20709B"/>
                </a:solidFill>
                <a:latin typeface="Apple SD Gothic Neo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295144"/>
            <a:ext cx="2084831" cy="438912"/>
          </a:xfrm>
          <a:prstGeom prst="roundRect">
            <a:avLst/>
          </a:prstGeom>
          <a:solidFill>
            <a:srgbClr val="F3F7FA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368296"/>
            <a:ext cx="1938528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50" b="1">
                <a:solidFill>
                  <a:srgbClr val="161F2D"/>
                </a:solidFill>
                <a:latin typeface="Apple SD Gothic Neo"/>
              </a:rPr>
              <a:t>NATS JetStream SERVICE_EVENTS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2184" y="2734056"/>
            <a:ext cx="3200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20709B"/>
                </a:solidFill>
                <a:latin typeface="Apple SD Gothic Neo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825496"/>
            <a:ext cx="2084831" cy="438912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898648"/>
            <a:ext cx="1938528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161F2D"/>
                </a:solidFill>
                <a:latin typeface="Apple SD Gothic Neo"/>
              </a:rPr>
              <a:t>GitOps Workers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2184" y="3264408"/>
            <a:ext cx="3200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20709B"/>
                </a:solidFill>
                <a:latin typeface="Apple SD Gothic Neo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355848"/>
            <a:ext cx="2084831" cy="438912"/>
          </a:xfrm>
          <a:prstGeom prst="roundRect">
            <a:avLst/>
          </a:prstGeom>
          <a:solidFill>
            <a:srgbClr val="F3F7FA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429000"/>
            <a:ext cx="1938528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161F2D"/>
                </a:solidFill>
                <a:latin typeface="Apple SD Gothic Neo"/>
              </a:rPr>
              <a:t>Command Worker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2184" y="3794760"/>
            <a:ext cx="3200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20709B"/>
                </a:solidFill>
                <a:latin typeface="Apple SD Gothic Neo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886200"/>
            <a:ext cx="2084831" cy="438912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3959352"/>
            <a:ext cx="1938528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161F2D"/>
                </a:solidFill>
                <a:latin typeface="Apple SD Gothic Neo"/>
              </a:rPr>
              <a:t>Agent Command Queue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2184" y="4325112"/>
            <a:ext cx="3200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20709B"/>
                </a:solidFill>
                <a:latin typeface="Apple SD Gothic Neo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416552"/>
            <a:ext cx="2084831" cy="438912"/>
          </a:xfrm>
          <a:prstGeom prst="roundRect">
            <a:avLst/>
          </a:prstGeom>
          <a:solidFill>
            <a:srgbClr val="F3F7FA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4489704"/>
            <a:ext cx="1938528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50" b="1">
                <a:solidFill>
                  <a:srgbClr val="161F2D"/>
                </a:solidFill>
                <a:latin typeface="Apple SD Gothic Neo"/>
              </a:rPr>
              <a:t>Target Cluster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72184" y="4855464"/>
            <a:ext cx="3200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20709B"/>
                </a:solidFill>
                <a:latin typeface="Apple SD Gothic Neo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946904"/>
            <a:ext cx="2084831" cy="438912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5020056"/>
            <a:ext cx="1938528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161F2D"/>
                </a:solidFill>
                <a:latin typeface="Apple SD Gothic Neo"/>
              </a:rPr>
              <a:t>Kubernetes API / Prometheus / Loki / OTel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2184" y="5385816"/>
            <a:ext cx="3200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20709B"/>
                </a:solidFill>
                <a:latin typeface="Apple SD Gothic Neo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477256"/>
            <a:ext cx="2084831" cy="438912"/>
          </a:xfrm>
          <a:prstGeom prst="roundRect">
            <a:avLst/>
          </a:prstGeom>
          <a:solidFill>
            <a:srgbClr val="F3F7FA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5550408"/>
            <a:ext cx="1938528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161F2D"/>
                </a:solidFill>
                <a:latin typeface="Apple SD Gothic Neo"/>
              </a:rPr>
              <a:t>Evidence / RCA / Safe PR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72184" y="5916168"/>
            <a:ext cx="3200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20709B"/>
                </a:solidFill>
                <a:latin typeface="Apple SD Gothic Neo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6007608"/>
            <a:ext cx="2084831" cy="438912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6080760"/>
            <a:ext cx="1938528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161F2D"/>
                </a:solidFill>
                <a:latin typeface="Apple SD Gothic Neo"/>
              </a:rPr>
              <a:t>Dashboard Projection / Audit Timeline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063240" y="1234440"/>
          <a:ext cx="8412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6903720"/>
              </a:tblGrid>
              <a:tr h="57476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영역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현재 기준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Gateway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외부 HTTP 경계, session/auth, command/dashboard/DLQ/agent API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 Bus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NATS JetStream, durable pull consumer, at-least-once delivery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Worker Runtime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App, EventProcessor, retry, DLQ, causation/correlation 처리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Storage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PostgreSQL event/audit/read model/command queue, Redis session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GitOps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webhook 대신 commit polling 기본 사이클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Target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target agent outbound-only, Node Collector, fake/real telemetry adapter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709B"/>
                </a:solidFill>
                <a:latin typeface="Apple SD Gothic Neo"/>
              </a:rPr>
              <a:t>04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07899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F2F46"/>
                </a:solidFill>
                <a:latin typeface="Apple SD Gothic Neo"/>
              </a:rPr>
              <a:t>수행 경과 1 - 기획과 멘토링 반영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105156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pple SD Gothic Neo"/>
              </a:rPr>
              <a:t>메일과 Teams 멘토링에서 나온 피드백을 실제 설계와 문서에 반영했습니다.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0467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06C7A"/>
                </a:solidFill>
                <a:latin typeface="Apple SD Gothic Neo"/>
              </a:rPr>
              <a:t>303호 4팀 · 주간 공유 / 멘토링 자료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01384"/>
            <a:ext cx="50292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06C7A"/>
                </a:solidFill>
                <a:latin typeface="Apple SD Gothic Neo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88720"/>
          <a:ext cx="112014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4754880"/>
                <a:gridCol w="5120640"/>
              </a:tblGrid>
              <a:tr h="35814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날짜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진행 내용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결과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06/24~06/25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AI Kubernetes 운영 자동화 주제 구체화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MVP 계획, 서비스 분리, WIKI 문서화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06/26 오전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멘토님 Teams 미팅 초대 수신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MVP 기획, WBS, 역할/목표 준비 요청 확인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06/26 저녁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사전 기획 PPT를 멘토님께 공유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멘토링 참고 자료로 활용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06/26 멘토링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MVP 범위, 저장소, 인증, AI 인사이트, 협업 방식 논의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WIKI 회의록/자동 전사 정리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06/27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멘토님 주니어 온보딩 자료 공유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팀원 학습 자료로 공유 예정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657600"/>
          <a:ext cx="11201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086600"/>
              </a:tblGrid>
              <a:tr h="411480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피드백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반영 조치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한 사이클이 실제로 돌아가는 MVP 우선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1차 보고 목표를 Event Runtime / DLQ / Node Collector로 축소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OAuth/auth 범위 축소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내부 로그인 + Redis session + integration credential 구조로 재작성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AI 인사이트를 강조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Evidence -&gt; RCA -&gt; Safe PR/Command 흐름 중심으로 정리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secret 노출 금지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event/log/response에는 token 대신 ref/id만 전달하는 규칙 문서화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709B"/>
                </a:solidFill>
                <a:latin typeface="Apple SD Gothic Neo"/>
              </a:rPr>
              <a:t>04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07899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F2F46"/>
                </a:solidFill>
                <a:latin typeface="Apple SD Gothic Neo"/>
              </a:rPr>
              <a:t>수행 경과 2 - Event / Queue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105156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pple SD Gothic Neo"/>
              </a:rPr>
              <a:t>큐는 비동기 처리만이 아니라 retry, DLQ, replay, audit 추적을 위한 운영 경계입니다.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0467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06C7A"/>
                </a:solidFill>
                <a:latin typeface="Apple SD Gothic Neo"/>
              </a:rPr>
              <a:t>303호 4팀 · 주간 공유 / 멘토링 자료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01384"/>
            <a:ext cx="50292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06C7A"/>
                </a:solidFill>
                <a:latin typeface="Apple SD Gothic Neo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234440"/>
          <a:ext cx="66294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983480"/>
              </a:tblGrid>
              <a:tr h="54292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현재 설계/구현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EventEnvelope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event_id, subject, source, correlation_id, causation_id, created_at, payload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 Bus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NATS JetStream SERVICE_EVENTS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Delivery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at-least-once delivery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Consumer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durable pull consumer, 기본 durable name은 service name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Idempotency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PostgreSQL event_processing(event_id, consumer) ledger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Retry/DLQ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최대 3회 bounded retry, dead_letter.created 발행, replay API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Outbox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외부 side effect 안정화를 위한 hardening 후보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43800" y="1417320"/>
            <a:ext cx="3977639" cy="3886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220">
                <a:solidFill>
                  <a:srgbClr val="161F2D"/>
                </a:solidFill>
                <a:latin typeface="Apple SD Gothic Neo"/>
              </a:defRPr>
            </a:pPr>
            <a:r>
              <a:t>• docs/events.md에 envelope, body, subject, 발행/구독, retry/DLQ 규칙 정리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20">
                <a:solidFill>
                  <a:srgbClr val="161F2D"/>
                </a:solidFill>
                <a:latin typeface="Apple SD Gothic Neo"/>
              </a:defRPr>
            </a:pPr>
            <a:r>
              <a:t>• packages/contracts/event_bus에 subject/body/envelope/port 계약 정리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20">
                <a:solidFill>
                  <a:srgbClr val="161F2D"/>
                </a:solidFill>
                <a:latin typeface="Apple SD Gothic Neo"/>
              </a:defRPr>
            </a:pPr>
            <a:r>
              <a:t>• handler 실패 시 retry, DLQ, ack/nak 책임을 workflow 코드에서 분리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20">
                <a:solidFill>
                  <a:srgbClr val="161F2D"/>
                </a:solidFill>
                <a:latin typeface="Apple SD Gothic Neo"/>
              </a:defRPr>
            </a:pPr>
            <a:r>
              <a:t>• dashboard/audit projector는 모든 이벤트(&gt;)를 관찰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20">
                <a:solidFill>
                  <a:srgbClr val="161F2D"/>
                </a:solidFill>
                <a:latin typeface="Apple SD Gothic Neo"/>
              </a:defRPr>
            </a:pPr>
            <a:r>
              <a:t>• origin/feat/woonyong-kr/event-system 최신: 6018211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709B"/>
                </a:solidFill>
                <a:latin typeface="Apple SD Gothic Neo"/>
              </a:rPr>
              <a:t>04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07899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F2F46"/>
                </a:solidFill>
                <a:latin typeface="Apple SD Gothic Neo"/>
              </a:rPr>
              <a:t>수행 경과 3 - Gateway/Auth와 권한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105156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pple SD Gothic Neo"/>
              </a:rPr>
              <a:t>사용자 로그인 계정과 외부 도구 계정을 분리하는 방향으로 설계를 바꿨습니다.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0467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06C7A"/>
                </a:solidFill>
                <a:latin typeface="Apple SD Gothic Neo"/>
              </a:rPr>
              <a:t>303호 4팀 · 주간 공유 / 멘토링 자료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01384"/>
            <a:ext cx="50292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06C7A"/>
                </a:solidFill>
                <a:latin typeface="Apple SD Gothic Neo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07008"/>
          <a:ext cx="676655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377440"/>
                <a:gridCol w="3749039"/>
              </a:tblGrid>
              <a:tr h="548640"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현재 작업 방향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email/password 내부 로그인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Redis server-side session, cookie/header 인증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2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내부 권한 확인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organization/project role 분리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외부 도구 하나 연결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GitHub integration target + credential ref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4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도구 사용 권한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action 단위 권한: read_repo, create_pr 등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Token Broker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worker가 secret을 직접 읽지 않고 broker를 통해 발급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6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두 번째 도구 연결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Prometheus target으로 추상화 검증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43800" y="1207008"/>
            <a:ext cx="3977639" cy="3840480"/>
          </a:xfrm>
          <a:prstGeom prst="roundRect">
            <a:avLst/>
          </a:prstGeom>
          <a:solidFill>
            <a:srgbClr val="F3F7FA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1417320"/>
            <a:ext cx="347472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F2F46"/>
                </a:solidFill>
                <a:latin typeface="Apple SD Gothic Neo"/>
              </a:rPr>
              <a:t>왜 OAuth-only가 아닌가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874519"/>
            <a:ext cx="3566160" cy="2697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120">
                <a:solidFill>
                  <a:srgbClr val="161F2D"/>
                </a:solidFill>
                <a:latin typeface="Apple SD Gothic Neo"/>
              </a:defRPr>
            </a:pPr>
            <a:r>
              <a:t>• GitHub OAuth는 GitHub 계정만 대표함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120">
                <a:solidFill>
                  <a:srgbClr val="161F2D"/>
                </a:solidFill>
                <a:latin typeface="Apple SD Gothic Neo"/>
              </a:defRPr>
            </a:pPr>
            <a:r>
              <a:t>• Prometheus, Loki, DB, Kubernetes 권한은 별도 target/credential로 봐야 함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120">
                <a:solidFill>
                  <a:srgbClr val="161F2D"/>
                </a:solidFill>
                <a:latin typeface="Apple SD Gothic Neo"/>
              </a:defRPr>
            </a:pPr>
            <a:r>
              <a:t>• 외부 credential은 event, browser, log, DB plain column에 넣지 않음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120">
                <a:solidFill>
                  <a:srgbClr val="161F2D"/>
                </a:solidFill>
                <a:latin typeface="Apple SD Gothic Neo"/>
              </a:defRPr>
            </a:pPr>
            <a:r>
              <a:t>• 브랜치: origin/feat/jcbbbbbb/api-gateway be7a2ab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120">
                <a:solidFill>
                  <a:srgbClr val="161F2D"/>
                </a:solidFill>
                <a:latin typeface="Apple SD Gothic Neo"/>
              </a:defRPr>
            </a:pPr>
            <a:r>
              <a:t>• 이슈: #501, #519~#526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709B"/>
                </a:solidFill>
                <a:latin typeface="Apple SD Gothic Neo"/>
              </a:rPr>
              <a:t>04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07899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F2F46"/>
                </a:solidFill>
                <a:latin typeface="Apple SD Gothic Neo"/>
              </a:rPr>
              <a:t>수행 경과 4 - GitOps / Command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105156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pple SD Gothic Neo"/>
              </a:rPr>
              <a:t>webhook이 아니라 polling-first로 기본 사이클을 설계했습니다.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0467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06C7A"/>
                </a:solidFill>
                <a:latin typeface="Apple SD Gothic Neo"/>
              </a:rPr>
              <a:t>303호 4팀 · 주간 공유 / 멘토링 자료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01384"/>
            <a:ext cx="50292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06C7A"/>
                </a:solidFill>
                <a:latin typeface="Apple SD Gothic Neo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57607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4251960"/>
              </a:tblGrid>
              <a:tr h="4637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흐름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현재 판단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Git 변경 감지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webhook 대신 polling-first로 시작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GitOps 처리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Git pull -&gt; manifest render -&gt; desired diff -&gt; diff analyze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command 요청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diff 또는 UI/API 요청이 command.requested를 생성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policy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production write 금지, sandbox namespace부터 허용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dispatch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command plan 생성 후 agent command queue 저장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637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agent 실행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target agent가 Gateway에서 poll하고 실행 결과 보고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0" y="1234440"/>
            <a:ext cx="4983480" cy="3246120"/>
          </a:xfrm>
          <a:prstGeom prst="roundRect">
            <a:avLst/>
          </a:prstGeom>
          <a:solidFill>
            <a:srgbClr val="F8FAFC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463040"/>
            <a:ext cx="420624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F2F46"/>
                </a:solidFill>
                <a:latin typeface="Apple SD Gothic Neo"/>
              </a:rPr>
              <a:t>기본 이벤트 전이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847088"/>
            <a:ext cx="4251960" cy="2148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50" b="0">
                <a:solidFill>
                  <a:srgbClr val="161F2D"/>
                </a:solidFill>
                <a:latin typeface="Apple SD Gothic Neo"/>
              </a:rPr>
              <a:t>git.changed
-&gt; manifest.rendered
-&gt; desired.diff.detected
-&gt; diff.analyzed
-&gt; command.requested
-&gt; command.dispatch.ready
-&gt; command.dispatched
-&gt; command.queued_for_agent
-&gt; command.completed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046988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78B5E"/>
                </a:solidFill>
                <a:latin typeface="Apple SD Gothic Neo"/>
              </a:rPr>
              <a:t>PR #540/#541: GitOps polling API 설계 문서 dev/main merge 완료 · 이슈 #503/#504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709B"/>
                </a:solidFill>
                <a:latin typeface="Apple SD Gothic Neo"/>
              </a:rPr>
              <a:t>04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07899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F2F46"/>
                </a:solidFill>
                <a:latin typeface="Apple SD Gothic Neo"/>
              </a:rPr>
              <a:t>수행 경과 5 - Target / Telemetry /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105156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pple SD Gothic Neo"/>
              </a:rPr>
              <a:t>raw telemetry 전체가 아니라 RCA에 필요한 의미 있는 요약 신호를 Evidence로 만듭니다.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0467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06C7A"/>
                </a:solidFill>
                <a:latin typeface="Apple SD Gothic Neo"/>
              </a:rPr>
              <a:t>303호 4팀 · 주간 공유 / 멘토링 자료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01384"/>
            <a:ext cx="50292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06C7A"/>
                </a:solidFill>
                <a:latin typeface="Apple SD Gothic Neo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43000"/>
          <a:ext cx="653796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5029200"/>
              </a:tblGrid>
              <a:tr h="529045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Target Agent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target cluster 안에서 실행, Gateway로 outbound HTTP 요청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Node Collector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DaemonSet으로 node/runtime 보조 지표와 structured log 제공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Prometheus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metric을 scrape하는 pull 모델, /metrics exporter를 읽고 query API로 조회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Loki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log를 수집/저장하는 ingest 모델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OpenTelemetry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trace/metric/log를 collector로 push하거나 export하는 관측성 표준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29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Evidence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RCA가 이해할 수 있는 의미 있는 요약 신호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0" y="1298448"/>
            <a:ext cx="4069080" cy="411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130">
                <a:solidFill>
                  <a:srgbClr val="161F2D"/>
                </a:solidFill>
                <a:latin typeface="Apple SD Gothic Neo"/>
              </a:defRPr>
            </a:pPr>
            <a:r>
              <a:t>• Prometheus 설치 -&gt; dummy /metrics scrape -&gt; query API 확인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130">
                <a:solidFill>
                  <a:srgbClr val="161F2D"/>
                </a:solidFill>
                <a:latin typeface="Apple SD Gothic Neo"/>
              </a:defRPr>
            </a:pPr>
            <a:r>
              <a:t>• query client 구조화 -&gt; Agent debug query API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130">
                <a:solidFill>
                  <a:srgbClr val="161F2D"/>
                </a:solidFill>
                <a:latin typeface="Apple SD Gothic Neo"/>
              </a:defRPr>
            </a:pPr>
            <a:r>
              <a:t>• Kubernetes Pod/Event reader fake adapter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130">
                <a:solidFill>
                  <a:srgbClr val="161F2D"/>
                </a:solidFill>
                <a:latin typeface="Apple SD Gothic Neo"/>
              </a:defRPr>
            </a:pPr>
            <a:r>
              <a:t>• Prometheus + Kubernetes evidence 결합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130">
                <a:solidFill>
                  <a:srgbClr val="161F2D"/>
                </a:solidFill>
                <a:latin typeface="Apple SD Gothic Neo"/>
              </a:defRPr>
            </a:pPr>
            <a:r>
              <a:t>• Gateway evidence 계약 준비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130">
                <a:solidFill>
                  <a:srgbClr val="161F2D"/>
                </a:solidFill>
                <a:latin typeface="Apple SD Gothic Neo"/>
              </a:defRPr>
            </a:pPr>
            <a:r>
              <a:t>• 브랜치: origin/feat/minmings111/target-cluster-agent ec0d1f9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130">
                <a:solidFill>
                  <a:srgbClr val="161F2D"/>
                </a:solidFill>
                <a:latin typeface="Apple SD Gothic Neo"/>
              </a:defRPr>
            </a:pPr>
            <a:r>
              <a:t>• 이슈: #508~#509, #527~#537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709B"/>
                </a:solidFill>
                <a:latin typeface="Apple SD Gothic Neo"/>
              </a:rPr>
              <a:t>04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07899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F2F46"/>
                </a:solidFill>
                <a:latin typeface="Apple SD Gothic Neo"/>
              </a:rPr>
              <a:t>브랜치 / PR / 이슈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105156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pple SD Gothic Neo"/>
              </a:rPr>
              <a:t>문서 PR은 dev/main에 반영됐고, 구현 이슈는 역할별로 열려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0467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06C7A"/>
                </a:solidFill>
                <a:latin typeface="Apple SD Gothic Neo"/>
              </a:rPr>
              <a:t>303호 4팀 · 주간 공유 / 멘토링 자료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01384"/>
            <a:ext cx="50292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06C7A"/>
                </a:solidFill>
                <a:latin typeface="Apple SD Gothic Neo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70432"/>
          <a:ext cx="113842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846320"/>
                <a:gridCol w="4389120"/>
              </a:tblGrid>
              <a:tr h="543560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영역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브랜치/PR/이슈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main/dev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origin/main 5b0b399 / origin/dev c025a85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GitOps polling docs merge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Platform/Event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origin/feat/woonyong-kr/event-system 6018211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crash test/rollout wait fix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Gateway/Auth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origin/feat/jcbbbbbb/api-gateway be7a2ab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email/password + Redis session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GitOps/Command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origin/feat/jeonwoohyun-hydromel/*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초기 브랜치, 이슈 #503/#504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RCA/Audit/Projection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origin/feat/ummfieg/*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초기 브랜치, 이슈 #505~#507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Target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origin/feat/minmings111/target-cluster-agent ec0d1f9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pod logs with Alloy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Merged PR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#538~#541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Evidence 학습/데모, GitOps polling API 설계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Open Issues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#501~#509, #519~#537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6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역할별 세부 task 진행 중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709B"/>
                </a:solidFill>
                <a:latin typeface="Apple SD Gothic Neo"/>
              </a:rPr>
              <a:t>04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07899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F2F46"/>
                </a:solidFill>
                <a:latin typeface="Apple SD Gothic Neo"/>
              </a:rPr>
              <a:t>WBS와 이번 주 데모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105156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pple SD Gothic Neo"/>
              </a:rPr>
              <a:t>2026-07-01 1차 보고는 Event Runtime / DLQ / Node Collector를 중심으로 준비합니다.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0467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06C7A"/>
                </a:solidFill>
                <a:latin typeface="Apple SD Gothic Neo"/>
              </a:rPr>
              <a:t>303호 4팀 · 주간 공유 / 멘토링 자료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01384"/>
            <a:ext cx="50292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06C7A"/>
                </a:solidFill>
                <a:latin typeface="Apple SD Gothic Neo"/>
              </a:rP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42062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</a:tblGrid>
              <a:tr h="3733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값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WBS 기준 시작일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2026-06-27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전체 작업 수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56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P0 작업 수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44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1차 보고 목표일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2026-07-01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1차 보고 핵심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10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 Runtime / DLQ / Node Collector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166360" y="1234440"/>
          <a:ext cx="63550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4297680"/>
              </a:tblGrid>
              <a:tr h="441960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데모 항목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확인 방법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 처리 상태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 발행 -&gt; worker 처리 -&gt; DB 기록 확인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DLQ/replay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실패 이벤트 생성 -&gt; dead letter 저장 -&gt; replay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Node Collector /metrics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target cluster metrics endpoint 확인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Gateway/Auth skeleton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session 없는 보호 API 실패, 로그인/session 기본 확인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Target telemetry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3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dummy metric scrape/query 또는 fake adapter 확인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4069080"/>
          <a:ext cx="10927079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26679"/>
              </a:tblGrid>
              <a:tr h="2819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리스크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대응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통합 시간 부족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fake adapter와 smoke path 먼저 고정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외부 도구 연동 지연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dry-run/fake provider feature flag 유지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 중복 처리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event_processing ledger와 stable id 사용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secret 노출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token은 event/log/response 금지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문서/코드 불일치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PR마다 source docs/WIKI 동시 갱신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709B"/>
                </a:solidFill>
                <a:latin typeface="Apple SD Gothic Neo"/>
              </a:rPr>
              <a:t>05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07899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F2F46"/>
                </a:solidFill>
                <a:latin typeface="Apple SD Gothic Neo"/>
              </a:rPr>
              <a:t>자체 평가 의견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105156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pple SD Gothic Neo"/>
              </a:rPr>
              <a:t>이번 주 성과는 어려운 프로젝트를 작은 계약과 task로 나눈 것입니다.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0467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06C7A"/>
                </a:solidFill>
                <a:latin typeface="Apple SD Gothic Neo"/>
              </a:rPr>
              <a:t>303호 4팀 · 주간 공유 / 멘토링 자료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01384"/>
            <a:ext cx="50292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06C7A"/>
                </a:solidFill>
                <a:latin typeface="Apple SD Gothic Neo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4300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875520"/>
              </a:tblGrid>
              <a:tr h="47548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평가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잘한 점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프로젝트 범위를 역할별로 나누고 event/queue/Gateway/Telemetry 핵심 계약을 문서화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아쉬운 점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구조가 크고 초보 팀원이 이해하기 어려우며 구현 브랜치 일부가 아직 초기 상태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보완 계획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fake adapter로 먼저 흐름을 연결하고 실제 provider는 한 개씩 교체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학습 성과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queue, async worker, event-driven architecture, Kubernetes telemetry, GitOps/RCA 경계 이해 시작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88620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966960"/>
              </a:tblGrid>
              <a:tr h="335280"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팀원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다음 보완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임가인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 body와 Safe PR request 흐름을 작은 테스트로 구현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이민정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dummy metric scrape/query부터 직접 확인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전우현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polling worker와 command event 전이를 작은 단위로 구현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정찬빈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org/project RBAC와 protected route 테스트 추가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최우녕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4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구현 브랜치와 main/dev 정합성, smoke/e2e 검증 강화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709B"/>
                </a:solidFill>
                <a:latin typeface="Apple SD Gothic Neo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07899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F2F46"/>
                </a:solidFill>
                <a:latin typeface="Apple SD Gothic Neo"/>
              </a:rPr>
              <a:t>Appendix - 멘토링 일지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105156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pple SD Gothic Neo"/>
              </a:rPr>
              <a:t>매주 피드백과 조치사항을 누적해 KDT 제출 히스토리로 사용합니다.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0467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06C7A"/>
                </a:solidFill>
                <a:latin typeface="Apple SD Gothic Neo"/>
              </a:rPr>
              <a:t>303호 4팀 · 주간 공유 / 멘토링 자료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01384"/>
            <a:ext cx="50292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06C7A"/>
                </a:solidFill>
                <a:latin typeface="Apple SD Gothic Neo"/>
              </a:rPr>
              <a:t>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70432"/>
          <a:ext cx="11384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097280"/>
                <a:gridCol w="4617720"/>
                <a:gridCol w="4251960"/>
              </a:tblGrid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일시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방법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조치사항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06/26 09:26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이메일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Teams 미팅 초대, MVP/WBS/역할/목표 준비 요청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팀원 공유, 기획/WBS/역할 준비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06/26 19:49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이메일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사전 기획 PPT 공유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멘토링 참고 자료 전달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06/26 20:00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Teams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MVP 범위, 저장소, 인증, AI 인사이트, 협업 방식 논의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WIKI 회의록/자동 전사, 문서 반영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06/27 16:11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이메일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주니어 온보딩 자료 공유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8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팀원 학습 자료로 공유 예정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4251960"/>
          <a:ext cx="11384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269480"/>
              </a:tblGrid>
              <a:tr h="2895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피드백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반영 위치</a:t>
                      </a:r>
                    </a:p>
                  </a:txBody>
                  <a:tcPr>
                    <a:solidFill>
                      <a:srgbClr val="1F2F46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MVP는 한 사이클 우선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WBS 1차 보고 목표, coach-one-page-plan, work-allocation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OAuth/auth 범위 축소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gateway-auth 가이드, issues #519~#526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secret 노출 금지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events.md, gateway-auth.md, secrets.md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PostgreSQL/Prometheus 중심 단순화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architecture.md, Target/Telemetry 문서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AI 운영 인사이트 강조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멘토링 회의록, RCA/Safe PR 설계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20709B"/>
                </a:solidFill>
                <a:latin typeface="Apple SD Gothic Neo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078992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F2F46"/>
                </a:solidFill>
                <a:latin typeface="Apple SD Gothic Neo"/>
              </a:rPr>
              <a:t>Appendix - 확인한 문서와 경로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105156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06C7A"/>
                </a:solidFill>
                <a:latin typeface="Apple SD Gothic Neo"/>
              </a:rPr>
              <a:t>제출 자료가 히스토리 추적용이므로 근거 문서를 함께 남깁니다.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80467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06C7A"/>
                </a:solidFill>
                <a:latin typeface="Apple SD Gothic Neo"/>
              </a:rPr>
              <a:t>303호 4팀 · 주간 공유 / 멘토링 자료 · 2026-06-29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01384"/>
            <a:ext cx="50292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06C7A"/>
                </a:solidFill>
                <a:latin typeface="Apple SD Gothic Neo"/>
              </a:rPr>
              <a:t>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43000"/>
          <a:ext cx="112928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89720"/>
              </a:tblGrid>
              <a:tr h="4876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종류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경로/내용</a:t>
                      </a:r>
                    </a:p>
                  </a:txBody>
                  <a:tcPr>
                    <a:solidFill>
                      <a:srgbClr val="20709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제출 서식 PDF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/Users/woonyong/Downloads/303호_4팀_최우녕.pptx.pdf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멘토 이메일 PDF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/Users/woonyong/Downloads/Gmail - Jungle Mentor Meet_.pdf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Source repo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/Users/woonyong/workspace/Krafton-Jungle/SW_AI_W17-21-final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WIKI repo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/Users/woonyong/workspace/Krafton-Jungle/WIKI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핵심 source docs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docs/coach-one-page-plan.md, docs/architecture.md, docs/events.md, docs/team/work-allocation.md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핵심 WIKI docs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product-definition.md, 2026-06-26-mentoring.md, wbs.md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GitHub PR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#538~#541 merged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GitHub Issues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850">
                          <a:solidFill>
                            <a:srgbClr val="161F2D"/>
                          </a:solidFill>
                          <a:latin typeface="Apple SD Gothic Neo"/>
                        </a:defRPr>
                      </a:pPr>
                      <a:r>
                        <a:t>#501~#509, #519~#537 open</a:t>
                      </a:r>
                    </a:p>
                  </a:txBody>
                  <a:tcPr marL="50800" marR="50800" marT="25400" marB="25400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" y="5779008"/>
            <a:ext cx="1078992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278B5E"/>
                </a:solidFill>
                <a:latin typeface="Apple SD Gothic Neo"/>
              </a:rPr>
              <a:t>PPTX/PDF 변환 전 기준 원고: outputs/weekly-report/2026-06-29-weekly-mentoring-report.md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